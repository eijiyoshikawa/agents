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建築工房様の営業力強化・採用課題・ブランドポジション転換を同時に解決するAI開発BPOのご提案をさせていただきます。1時間1万円という明確な料金体系で、通常数百万円〜数千万円かかるシステム開発を月額40万円で実現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設業界はDX後進と言われますが、逆にそれは先行者優位を取れるチャンスです。AI開発BPOという形で、通常のシステム開発よりも圧倒的に安価かつ柔軟にAI導入を進められます。本提案では、営業効率化・採用・ブランディングの3課題を統合的に解決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本日は約30分で、課題の共通認識確認→市場背景→具体的なご提案内容→費用対効果→次のアクションの流れでご説明いたします。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回のお打ち合わせで伺った課題を整理しました。採用コストの非効率性、営業人員不足、ブランドの3つが相互に関連しています。エン転職の88万円投下で応募5人（17.6万円/人）かつミスマッチという現状は、チャネル自体の見直しが必要です。RPOは月60万円（年720万円）と高額で、ノウハウが残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建設業界全体の構造的な人材不足は深刻ですが、AI活用率が9.4%と全業種最低ということは、先に動いた企業が圧倒的に有利です。Z世代はSNSで企業を選ぶ時代。補助金も追い風で、2026年度からは生成AI導入が明確に支援対象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いホームはInstagramライブだけで内定6名・辞退ゼロを実現しました。工務店業界でもSNS採用は実証済みです。コプレックは製造業ですが、リブランディングで応募者3.5倍に。フジパンや士業事務所のAI導入事例は、建築工房様の営業業務自動化と直接的に構造が同じ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のシステム開発会社に依頼すると、要件定義から納品まで数百万〜数千万円、半年以上かかります。AI開発BPOなら月40万円で、必要な機能を優先度順に素早く開発。RPOの月60万円と比較しても安価で、かつ開発物・ノウハウが全て自社資産として残ります。業界を理解したメンバーが担当するため、ビジネス文脈を踏まえた最適なAIシステムを構築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Oに年間720万円、エン転職に88万円/回を投じ続けるよりも、AI開発BPOで根本的なシステムを構築した方が長期的にコスト効率が高いです。240万円の投資で、営業効率化システム+採用AI+SNS戦略基盤が手に入ります。補助金を活用すれば実質120万円以下まで圧縮可能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ヶ月を3フェーズに分けて段階的に開発します。最初の2ヶ月で業務分析とクイックウィン（議事録自動化・営業事前準備AI）を実現し、早期に効果を体感していただきます。中盤で採用AI・管理体制を構築し、最終フェーズで定着・改善を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も重要なスライドです。月40万円の投資に対し、営業5人×月20-30時間の削減で創出される時間価値だけでも月100-150万円相当。受注率15-20%向上の売上インパクトは年間数千万円規模です。さらに採用コスト削減と管理体制構築による経営基盤の強化は、長期的な企業価値向上に直結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リスクとその対策を整理しました。最大のリスクは「使いこなせない」ですが、伴走型のBPOだからこそ定着まで一緒に走れます。月単位契約なので、万が一効果が出なければ3ヶ月で見直し判断ができます。RPOの年間720万円のコミットと比べ、リスクは大幅に低い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補助金申請は Month 1 から並行して進めます。開発は Month 1 からすぐに着手し、最初の成果（議事録AI）を2週間以内にお見せします。菅代表の意思決定ポイントは月1回に集約し、負荷を最小限に抑えます。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時間1万円という明確な料金体系です。通常のシステム開発は500万〜3,000万円。RPOは年720万円。それに対してAI開発BPOは6ヶ月240万円（補助金で120万円以下）。しかも成果物は全て自社資産として残ります。月単位での調整も可能なので、効果を見ながら柔軟に進め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は本提案に対するご質問・ご要望をお聞かせください。ご契約後は即座にキックオフし、2週間以内に最初の成果（議事録AI等）をお見せすることで、投資の実感を早期に得ていただきます。補助金申請も並行して進めます。建設業界のAI活用率9.4%の今だからこそ、先行者優位を確立できるタイミング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731520" y="2286000"/>
            <a:ext cx="1371600" cy="508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468880"/>
            <a:ext cx="7315200" cy="914400"/>
          </a:xfrm>
          <a:prstGeom prst="rect">
            <a:avLst/>
          </a:prstGeom>
          <a:noFill/>
        </p:spPr>
        <p:txBody>
          <a:bodyPr wrap="square">
            <a:spAutoFit/>
          </a:bodyPr>
          <a:lstStyle/>
          <a:p>
            <a:pPr algn="l">
              <a:defRPr sz="3600" b="1">
                <a:solidFill>
                  <a:srgbClr val="FFFFFF"/>
                </a:solidFill>
                <a:latin typeface="Yu Gothic"/>
              </a:defRPr>
            </a:pPr>
            <a:r>
              <a:t>AI開発BPO ご提案書</a:t>
            </a:r>
          </a:p>
        </p:txBody>
      </p:sp>
      <p:sp>
        <p:nvSpPr>
          <p:cNvPr id="4" name="TextBox 3"/>
          <p:cNvSpPr txBox="1"/>
          <p:nvPr/>
        </p:nvSpPr>
        <p:spPr>
          <a:xfrm>
            <a:off x="731520" y="3383280"/>
            <a:ext cx="7315200" cy="731520"/>
          </a:xfrm>
          <a:prstGeom prst="rect">
            <a:avLst/>
          </a:prstGeom>
          <a:noFill/>
        </p:spPr>
        <p:txBody>
          <a:bodyPr wrap="square">
            <a:spAutoFit/>
          </a:bodyPr>
          <a:lstStyle/>
          <a:p>
            <a:pPr algn="l">
              <a:defRPr sz="1600" b="0">
                <a:solidFill>
                  <a:srgbClr val="BBBBBB"/>
                </a:solidFill>
                <a:latin typeface="Yu Gothic"/>
              </a:defRPr>
            </a:pPr>
            <a:r>
              <a:t>株式会社建築工房 様 — 営業DX × 採用ブランディング × 業務効率化</a:t>
            </a:r>
          </a:p>
        </p:txBody>
      </p:sp>
      <p:sp>
        <p:nvSpPr>
          <p:cNvPr id="5" name="TextBox 4"/>
          <p:cNvSpPr txBox="1"/>
          <p:nvPr/>
        </p:nvSpPr>
        <p:spPr>
          <a:xfrm>
            <a:off x="731520" y="4389120"/>
            <a:ext cx="2743200" cy="365760"/>
          </a:xfrm>
          <a:prstGeom prst="rect">
            <a:avLst/>
          </a:prstGeom>
          <a:noFill/>
        </p:spPr>
        <p:txBody>
          <a:bodyPr wrap="square">
            <a:spAutoFit/>
          </a:bodyPr>
          <a:lstStyle/>
          <a:p>
            <a:pPr algn="l">
              <a:defRPr sz="1400" b="0">
                <a:solidFill>
                  <a:srgbClr val="888888"/>
                </a:solidFill>
                <a:latin typeface="Yu Gothic"/>
              </a:defRPr>
            </a:pPr>
            <a:r>
              <a:t>2026年4月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エグゼクティブサマリー</a:t>
            </a:r>
          </a:p>
        </p:txBody>
      </p:sp>
      <p:sp>
        <p:nvSpPr>
          <p:cNvPr id="4" name="TextBox 3"/>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建設業界のAI活用率はわずか9.4%。導入企業の9割が効果を実感 → 先行者優位のチャンス</a:t>
            </a:r>
          </a:p>
          <a:p>
            <a:pPr>
              <a:spcAft>
                <a:spcPts val="600"/>
              </a:spcAft>
              <a:defRPr sz="1300">
                <a:solidFill>
                  <a:srgbClr val="333333"/>
                </a:solidFill>
                <a:latin typeface="Yu Gothic"/>
              </a:defRPr>
            </a:pPr>
            <a:r>
              <a:t>営業業務のAI自動化で、5人の営業が7〜8人分の生産性を発揮できる体制を構築</a:t>
            </a:r>
          </a:p>
          <a:p>
            <a:pPr>
              <a:spcAft>
                <a:spcPts val="600"/>
              </a:spcAft>
              <a:defRPr sz="1300">
                <a:solidFill>
                  <a:srgbClr val="333333"/>
                </a:solidFill>
                <a:latin typeface="Yu Gothic"/>
              </a:defRPr>
            </a:pPr>
            <a:r>
              <a:t>通常のシステム開発（数百万〜数千万円）に対し、AI開発BPO 月額40万円で同等以上の成果を実現</a:t>
            </a:r>
          </a:p>
          <a:p>
            <a:pPr>
              <a:spcAft>
                <a:spcPts val="600"/>
              </a:spcAft>
              <a:defRPr sz="1300">
                <a:solidFill>
                  <a:srgbClr val="333333"/>
                </a:solidFill>
                <a:latin typeface="Yu Gothic"/>
              </a:defRPr>
            </a:pPr>
            <a:r>
              <a:t>業界知見のあるメンバーが伴走し、システム完成時には数千万円規模の売上インパクトを目指す</a:t>
            </a:r>
          </a:p>
          <a:p>
            <a:pPr>
              <a:spcAft>
                <a:spcPts val="600"/>
              </a:spcAft>
              <a:defRPr sz="1300">
                <a:solidFill>
                  <a:srgbClr val="333333"/>
                </a:solidFill>
                <a:latin typeface="Yu Gothic"/>
              </a:defRPr>
            </a:pPr>
            <a:r>
              <a:t>補助金活用で実質負担をさらに圧縮可能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本日のアジェンダ</a:t>
            </a:r>
          </a:p>
        </p:txBody>
      </p:sp>
      <p:sp>
        <p:nvSpPr>
          <p:cNvPr id="4" name="Rectangle 3"/>
          <p:cNvSpPr/>
          <p:nvPr/>
        </p:nvSpPr>
        <p:spPr>
          <a:xfrm>
            <a:off x="548640" y="109728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48080"/>
            <a:ext cx="7680960" cy="365760"/>
          </a:xfrm>
          <a:prstGeom prst="rect">
            <a:avLst/>
          </a:prstGeom>
          <a:noFill/>
        </p:spPr>
        <p:txBody>
          <a:bodyPr wrap="square">
            <a:spAutoFit/>
          </a:bodyPr>
          <a:lstStyle/>
          <a:p>
            <a:pPr algn="l">
              <a:defRPr sz="1400" b="0">
                <a:solidFill>
                  <a:srgbClr val="333333"/>
                </a:solidFill>
                <a:latin typeface="Yu Gothic"/>
              </a:defRPr>
            </a:pPr>
            <a:r>
              <a:t>1. 貴社の現状課題の整理</a:t>
            </a:r>
          </a:p>
        </p:txBody>
      </p:sp>
      <p:sp>
        <p:nvSpPr>
          <p:cNvPr id="6" name="Rectangle 5"/>
          <p:cNvSpPr/>
          <p:nvPr/>
        </p:nvSpPr>
        <p:spPr>
          <a:xfrm>
            <a:off x="548640" y="160020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51000"/>
            <a:ext cx="7680960" cy="365760"/>
          </a:xfrm>
          <a:prstGeom prst="rect">
            <a:avLst/>
          </a:prstGeom>
          <a:noFill/>
        </p:spPr>
        <p:txBody>
          <a:bodyPr wrap="square">
            <a:spAutoFit/>
          </a:bodyPr>
          <a:lstStyle/>
          <a:p>
            <a:pPr algn="l">
              <a:defRPr sz="1400" b="0">
                <a:solidFill>
                  <a:srgbClr val="333333"/>
                </a:solidFill>
                <a:latin typeface="Yu Gothic"/>
              </a:defRPr>
            </a:pPr>
            <a:r>
              <a:t>2. 建設業界の市場環境とAI活用動向</a:t>
            </a:r>
          </a:p>
        </p:txBody>
      </p:sp>
      <p:sp>
        <p:nvSpPr>
          <p:cNvPr id="8" name="Rectangle 7"/>
          <p:cNvSpPr/>
          <p:nvPr/>
        </p:nvSpPr>
        <p:spPr>
          <a:xfrm>
            <a:off x="548640" y="210312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53920"/>
            <a:ext cx="7680960" cy="365760"/>
          </a:xfrm>
          <a:prstGeom prst="rect">
            <a:avLst/>
          </a:prstGeom>
          <a:noFill/>
        </p:spPr>
        <p:txBody>
          <a:bodyPr wrap="square">
            <a:spAutoFit/>
          </a:bodyPr>
          <a:lstStyle/>
          <a:p>
            <a:pPr algn="l">
              <a:defRPr sz="1400" b="0">
                <a:solidFill>
                  <a:srgbClr val="333333"/>
                </a:solidFill>
                <a:latin typeface="Yu Gothic"/>
              </a:defRPr>
            </a:pPr>
            <a:r>
              <a:t>3. 他業種の成功事例に学ぶ</a:t>
            </a:r>
          </a:p>
        </p:txBody>
      </p:sp>
      <p:sp>
        <p:nvSpPr>
          <p:cNvPr id="10" name="Rectangle 9"/>
          <p:cNvSpPr/>
          <p:nvPr/>
        </p:nvSpPr>
        <p:spPr>
          <a:xfrm>
            <a:off x="548640" y="260604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56840"/>
            <a:ext cx="7680960" cy="365760"/>
          </a:xfrm>
          <a:prstGeom prst="rect">
            <a:avLst/>
          </a:prstGeom>
          <a:noFill/>
        </p:spPr>
        <p:txBody>
          <a:bodyPr wrap="square">
            <a:spAutoFit/>
          </a:bodyPr>
          <a:lstStyle/>
          <a:p>
            <a:pPr algn="l">
              <a:defRPr sz="1400" b="0">
                <a:solidFill>
                  <a:srgbClr val="333333"/>
                </a:solidFill>
                <a:latin typeface="Yu Gothic"/>
              </a:defRPr>
            </a:pPr>
            <a:r>
              <a:t>4. AI開発BPO ご提案内容</a:t>
            </a:r>
          </a:p>
        </p:txBody>
      </p:sp>
      <p:sp>
        <p:nvSpPr>
          <p:cNvPr id="12" name="Rectangle 11"/>
          <p:cNvSpPr/>
          <p:nvPr/>
        </p:nvSpPr>
        <p:spPr>
          <a:xfrm>
            <a:off x="548640" y="310896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59760"/>
            <a:ext cx="7680960" cy="365760"/>
          </a:xfrm>
          <a:prstGeom prst="rect">
            <a:avLst/>
          </a:prstGeom>
          <a:noFill/>
        </p:spPr>
        <p:txBody>
          <a:bodyPr wrap="square">
            <a:spAutoFit/>
          </a:bodyPr>
          <a:lstStyle/>
          <a:p>
            <a:pPr algn="l">
              <a:defRPr sz="1400" b="0">
                <a:solidFill>
                  <a:srgbClr val="333333"/>
                </a:solidFill>
                <a:latin typeface="Yu Gothic"/>
              </a:defRPr>
            </a:pPr>
            <a:r>
              <a:t>5. 料金体系と通常開発との比較</a:t>
            </a:r>
          </a:p>
        </p:txBody>
      </p:sp>
      <p:sp>
        <p:nvSpPr>
          <p:cNvPr id="14" name="Rectangle 13"/>
          <p:cNvSpPr/>
          <p:nvPr/>
        </p:nvSpPr>
        <p:spPr>
          <a:xfrm>
            <a:off x="548640" y="361188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662680"/>
            <a:ext cx="7680960" cy="365760"/>
          </a:xfrm>
          <a:prstGeom prst="rect">
            <a:avLst/>
          </a:prstGeom>
          <a:noFill/>
        </p:spPr>
        <p:txBody>
          <a:bodyPr wrap="square">
            <a:spAutoFit/>
          </a:bodyPr>
          <a:lstStyle/>
          <a:p>
            <a:pPr algn="l">
              <a:defRPr sz="1400" b="0">
                <a:solidFill>
                  <a:srgbClr val="333333"/>
                </a:solidFill>
                <a:latin typeface="Yu Gothic"/>
              </a:defRPr>
            </a:pPr>
            <a:r>
              <a:t>6. 導入ロードマップ</a:t>
            </a:r>
          </a:p>
        </p:txBody>
      </p:sp>
      <p:sp>
        <p:nvSpPr>
          <p:cNvPr id="16" name="Rectangle 15"/>
          <p:cNvSpPr/>
          <p:nvPr/>
        </p:nvSpPr>
        <p:spPr>
          <a:xfrm>
            <a:off x="548640" y="411480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65600"/>
            <a:ext cx="7680960" cy="365760"/>
          </a:xfrm>
          <a:prstGeom prst="rect">
            <a:avLst/>
          </a:prstGeom>
          <a:noFill/>
        </p:spPr>
        <p:txBody>
          <a:bodyPr wrap="square">
            <a:spAutoFit/>
          </a:bodyPr>
          <a:lstStyle/>
          <a:p>
            <a:pPr algn="l">
              <a:defRPr sz="1400" b="0">
                <a:solidFill>
                  <a:srgbClr val="333333"/>
                </a:solidFill>
                <a:latin typeface="Yu Gothic"/>
              </a:defRPr>
            </a:pPr>
            <a:r>
              <a:t>7. 期待される効果・売上インパクト</a:t>
            </a:r>
          </a:p>
        </p:txBody>
      </p:sp>
      <p:sp>
        <p:nvSpPr>
          <p:cNvPr id="18" name="Rectangle 17"/>
          <p:cNvSpPr/>
          <p:nvPr/>
        </p:nvSpPr>
        <p:spPr>
          <a:xfrm>
            <a:off x="548640" y="4617720"/>
            <a:ext cx="804672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68520"/>
            <a:ext cx="7680960" cy="365760"/>
          </a:xfrm>
          <a:prstGeom prst="rect">
            <a:avLst/>
          </a:prstGeom>
          <a:noFill/>
        </p:spPr>
        <p:txBody>
          <a:bodyPr wrap="square">
            <a:spAutoFit/>
          </a:bodyPr>
          <a:lstStyle/>
          <a:p>
            <a:pPr algn="l">
              <a:defRPr sz="1400" b="0">
                <a:solidFill>
                  <a:srgbClr val="333333"/>
                </a:solidFill>
                <a:latin typeface="Yu Gothic"/>
              </a:defRPr>
            </a:pPr>
            <a:r>
              <a:t>8. Next Steps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貴社の現状課題</a:t>
            </a:r>
          </a:p>
        </p:txBody>
      </p:sp>
      <p:sp>
        <p:nvSpPr>
          <p:cNvPr id="4" name="TextBox 3"/>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【採用】エン転職に88万円/8週間 → 応募5人、うちミスマッチ多数（外国人3名・東京希望2名）</a:t>
            </a:r>
          </a:p>
          <a:p>
            <a:pPr>
              <a:spcAft>
                <a:spcPts val="600"/>
              </a:spcAft>
              <a:defRPr sz="1300">
                <a:solidFill>
                  <a:srgbClr val="333333"/>
                </a:solidFill>
                <a:latin typeface="Yu Gothic"/>
              </a:defRPr>
            </a:pPr>
            <a:r>
              <a:t>【採用】RPO検討中（月60万円）だがデータが自社に残らない懸念</a:t>
            </a:r>
          </a:p>
          <a:p>
            <a:pPr>
              <a:spcAft>
                <a:spcPts val="600"/>
              </a:spcAft>
              <a:defRPr sz="1300">
                <a:solidFill>
                  <a:srgbClr val="333333"/>
                </a:solidFill>
                <a:latin typeface="Yu Gothic"/>
              </a:defRPr>
            </a:pPr>
            <a:r>
              <a:t>【営業効率】営業部の人員不足。年間5人の定着（7-8人採用）が目標</a:t>
            </a:r>
          </a:p>
          <a:p>
            <a:pPr>
              <a:spcAft>
                <a:spcPts val="600"/>
              </a:spcAft>
              <a:defRPr sz="1300">
                <a:solidFill>
                  <a:srgbClr val="333333"/>
                </a:solidFill>
                <a:latin typeface="Yu Gothic"/>
              </a:defRPr>
            </a:pPr>
            <a:r>
              <a:t>【AI導入】営業事前準備・面接スコアリング・議事録作成の自動化ニーズ</a:t>
            </a:r>
          </a:p>
          <a:p>
            <a:pPr>
              <a:spcAft>
                <a:spcPts val="600"/>
              </a:spcAft>
              <a:defRPr sz="1300">
                <a:solidFill>
                  <a:srgbClr val="333333"/>
                </a:solidFill>
                <a:latin typeface="Yu Gothic"/>
              </a:defRPr>
            </a:pPr>
            <a:r>
              <a:t>【ブランド】工務店 → ハウスメーカーへのポジション転換を志向</a:t>
            </a:r>
          </a:p>
          <a:p>
            <a:pPr>
              <a:spcAft>
                <a:spcPts val="600"/>
              </a:spcAft>
              <a:defRPr sz="1300">
                <a:solidFill>
                  <a:srgbClr val="333333"/>
                </a:solidFill>
                <a:latin typeface="Yu Gothic"/>
              </a:defRPr>
            </a:pPr>
            <a:r>
              <a:t>【ブランド】SNS発信不足で会社の雰囲気が外部に伝わっていない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建設業界の市場環境</a:t>
            </a:r>
          </a:p>
        </p:txBody>
      </p:sp>
      <p:sp>
        <p:nvSpPr>
          <p:cNvPr id="4" name="TextBox 3"/>
          <p:cNvSpPr txBox="1"/>
          <p:nvPr/>
        </p:nvSpPr>
        <p:spPr>
          <a:xfrm>
            <a:off x="548640" y="868680"/>
            <a:ext cx="8046720" cy="365760"/>
          </a:xfrm>
          <a:prstGeom prst="rect">
            <a:avLst/>
          </a:prstGeom>
          <a:noFill/>
        </p:spPr>
        <p:txBody>
          <a:bodyPr wrap="square">
            <a:spAutoFit/>
          </a:bodyPr>
          <a:lstStyle/>
          <a:p>
            <a:pPr algn="l">
              <a:defRPr sz="1400" b="1">
                <a:solidFill>
                  <a:srgbClr val="006ED6"/>
                </a:solidFill>
                <a:latin typeface="Yu Gothic"/>
              </a:defRPr>
            </a:pPr>
            <a:r>
              <a:t>人材不足とDX後進 — だからこそチャンスがある</a:t>
            </a:r>
          </a:p>
        </p:txBody>
      </p:sp>
      <p:sp>
        <p:nvSpPr>
          <p:cNvPr id="5" name="TextBox 4"/>
          <p:cNvSpPr txBox="1"/>
          <p:nvPr/>
        </p:nvSpPr>
        <p:spPr>
          <a:xfrm>
            <a:off x="731520" y="1280160"/>
            <a:ext cx="7680960" cy="4114800"/>
          </a:xfrm>
          <a:prstGeom prst="rect">
            <a:avLst/>
          </a:prstGeom>
          <a:noFill/>
        </p:spPr>
        <p:txBody>
          <a:bodyPr wrap="square">
            <a:spAutoFit/>
          </a:bodyPr>
          <a:lstStyle/>
          <a:p>
            <a:pPr>
              <a:spcAft>
                <a:spcPts val="600"/>
              </a:spcAft>
              <a:defRPr sz="1300">
                <a:solidFill>
                  <a:srgbClr val="333333"/>
                </a:solidFill>
                <a:latin typeface="Yu Gothic"/>
              </a:defRPr>
            </a:pPr>
            <a:r>
              <a:t>建設業就業者数：1997年 685万人 → 2025年 477万人（▲30%）</a:t>
            </a:r>
          </a:p>
          <a:p>
            <a:pPr>
              <a:spcAft>
                <a:spcPts val="600"/>
              </a:spcAft>
              <a:defRPr sz="1300">
                <a:solidFill>
                  <a:srgbClr val="333333"/>
                </a:solidFill>
                <a:latin typeface="Yu Gothic"/>
              </a:defRPr>
            </a:pPr>
            <a:r>
              <a:t>55歳以上が36%、29歳以下が11.8% → 世代交代が急務</a:t>
            </a:r>
          </a:p>
          <a:p>
            <a:pPr>
              <a:spcAft>
                <a:spcPts val="600"/>
              </a:spcAft>
              <a:defRPr sz="1300">
                <a:solidFill>
                  <a:srgbClr val="333333"/>
                </a:solidFill>
                <a:latin typeface="Yu Gothic"/>
              </a:defRPr>
            </a:pPr>
            <a:r>
              <a:t>有効求人倍率：建築技術者 5.99倍（全産業平均 1.29倍の約5倍）</a:t>
            </a:r>
          </a:p>
          <a:p>
            <a:pPr>
              <a:spcAft>
                <a:spcPts val="600"/>
              </a:spcAft>
              <a:defRPr sz="1300">
                <a:solidFill>
                  <a:srgbClr val="333333"/>
                </a:solidFill>
                <a:latin typeface="Yu Gothic"/>
              </a:defRPr>
            </a:pPr>
            <a:r>
              <a:t>建設業のAI活用率 9.4%（全業種最低）→ 導入企業の9割が効果を実感</a:t>
            </a:r>
          </a:p>
          <a:p>
            <a:pPr>
              <a:spcAft>
                <a:spcPts val="600"/>
              </a:spcAft>
              <a:defRPr sz="1300">
                <a:solidFill>
                  <a:srgbClr val="333333"/>
                </a:solidFill>
                <a:latin typeface="Yu Gothic"/>
              </a:defRPr>
            </a:pPr>
            <a:r>
              <a:t>Z世代の80%が就活時に企業SNSをチェック。Instagram閲覧率71.4%</a:t>
            </a:r>
          </a:p>
          <a:p>
            <a:pPr>
              <a:spcAft>
                <a:spcPts val="600"/>
              </a:spcAft>
              <a:defRPr sz="1300">
                <a:solidFill>
                  <a:srgbClr val="333333"/>
                </a:solidFill>
                <a:latin typeface="Yu Gothic"/>
              </a:defRPr>
            </a:pPr>
            <a:r>
              <a:t>2026年「デジタル化・AI導入補助金」予算3,400億円、生成AI対象が明確化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成功事例に学ぶ — AI × 採用 × ブランディング</a:t>
            </a:r>
          </a:p>
        </p:txBody>
      </p:sp>
      <p:sp>
        <p:nvSpPr>
          <p:cNvPr id="4" name="TextBox 3"/>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【あいホーム（宮城）】Instagramライブ30日間 → 応募100名、内定6名全員SNS経由、辞退ゼロ</a:t>
            </a:r>
          </a:p>
          <a:p>
            <a:pPr>
              <a:spcAft>
                <a:spcPts val="600"/>
              </a:spcAft>
              <a:defRPr sz="1300">
                <a:solidFill>
                  <a:srgbClr val="333333"/>
                </a:solidFill>
                <a:latin typeface="Yu Gothic"/>
              </a:defRPr>
            </a:pPr>
            <a:r>
              <a:t>【コプレック（静岡）】リブランディング投資 → 求職者3.5倍、グッドデザイン賞受賞</a:t>
            </a:r>
          </a:p>
          <a:p>
            <a:pPr>
              <a:spcAft>
                <a:spcPts val="600"/>
              </a:spcAft>
              <a:defRPr sz="1300">
                <a:solidFill>
                  <a:srgbClr val="333333"/>
                </a:solidFill>
                <a:latin typeface="Yu Gothic"/>
              </a:defRPr>
            </a:pPr>
            <a:r>
              <a:t>【フジパン】生成AIで営業商談準備を自動化 → プロンプトを社内資産化</a:t>
            </a:r>
          </a:p>
          <a:p>
            <a:pPr>
              <a:spcAft>
                <a:spcPts val="600"/>
              </a:spcAft>
              <a:defRPr sz="1300">
                <a:solidFill>
                  <a:srgbClr val="333333"/>
                </a:solidFill>
                <a:latin typeface="Yu Gothic"/>
              </a:defRPr>
            </a:pPr>
            <a:r>
              <a:t>【士業事務所】AI導入で提案書作成 3時間→1時間、受注率15%向上</a:t>
            </a:r>
          </a:p>
          <a:p>
            <a:pPr>
              <a:spcAft>
                <a:spcPts val="600"/>
              </a:spcAft>
              <a:defRPr sz="1300">
                <a:solidFill>
                  <a:srgbClr val="333333"/>
                </a:solidFill>
                <a:latin typeface="Yu Gothic"/>
              </a:defRPr>
            </a:pPr>
            <a:r>
              <a:t>【焼肉きんぐ】AIで定型業務を自動化し、人はコア業務に集中 → 人件費30%超削減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ご提案：AI開発BPOサービス</a:t>
            </a:r>
          </a:p>
        </p:txBody>
      </p:sp>
      <p:sp>
        <p:nvSpPr>
          <p:cNvPr id="4" name="TextBox 3"/>
          <p:cNvSpPr txBox="1"/>
          <p:nvPr/>
        </p:nvSpPr>
        <p:spPr>
          <a:xfrm>
            <a:off x="548640" y="868680"/>
            <a:ext cx="8046720" cy="365760"/>
          </a:xfrm>
          <a:prstGeom prst="rect">
            <a:avLst/>
          </a:prstGeom>
          <a:noFill/>
        </p:spPr>
        <p:txBody>
          <a:bodyPr wrap="square">
            <a:spAutoFit/>
          </a:bodyPr>
          <a:lstStyle/>
          <a:p>
            <a:pPr algn="l">
              <a:defRPr sz="1400" b="1">
                <a:solidFill>
                  <a:srgbClr val="006ED6"/>
                </a:solidFill>
                <a:latin typeface="Yu Gothic"/>
              </a:defRPr>
            </a:pPr>
            <a:r>
              <a:t>1時間1万円 × 月40時間 = 月額40万円（税別）</a:t>
            </a:r>
          </a:p>
        </p:txBody>
      </p:sp>
      <p:sp>
        <p:nvSpPr>
          <p:cNvPr id="5" name="Rectangle 4"/>
          <p:cNvSpPr/>
          <p:nvPr/>
        </p:nvSpPr>
        <p:spPr>
          <a:xfrm>
            <a:off x="365760" y="1188720"/>
            <a:ext cx="8412480" cy="438912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7680960" cy="4114800"/>
          </a:xfrm>
          <a:prstGeom prst="rect">
            <a:avLst/>
          </a:prstGeom>
          <a:noFill/>
        </p:spPr>
        <p:txBody>
          <a:bodyPr wrap="square">
            <a:spAutoFit/>
          </a:bodyPr>
          <a:lstStyle/>
          <a:p>
            <a:pPr>
              <a:spcAft>
                <a:spcPts val="600"/>
              </a:spcAft>
              <a:defRPr sz="1300">
                <a:solidFill>
                  <a:srgbClr val="333333"/>
                </a:solidFill>
                <a:latin typeface="Yu Gothic"/>
              </a:defRPr>
            </a:pPr>
            <a:r>
              <a:t>通常のシステム開発：数百万円〜数千万円（要件定義→設計→開発→テストで半年〜1年）</a:t>
            </a:r>
          </a:p>
          <a:p>
            <a:pPr>
              <a:spcAft>
                <a:spcPts val="600"/>
              </a:spcAft>
              <a:defRPr sz="1300">
                <a:solidFill>
                  <a:srgbClr val="333333"/>
                </a:solidFill>
                <a:latin typeface="Yu Gothic"/>
              </a:defRPr>
            </a:pPr>
            <a:r>
              <a:t>AI開発BPO：月額40万円で必要な機能をアジャイルに開発・改善</a:t>
            </a:r>
          </a:p>
          <a:p>
            <a:pPr>
              <a:spcAft>
                <a:spcPts val="600"/>
              </a:spcAft>
              <a:defRPr sz="1300">
                <a:solidFill>
                  <a:srgbClr val="333333"/>
                </a:solidFill>
                <a:latin typeface="Yu Gothic"/>
              </a:defRPr>
            </a:pPr>
            <a:r>
              <a:t>業界知見のあるメンバーが対応 — 建設・不動産業界のビジネスを理解した上で設計</a:t>
            </a:r>
          </a:p>
          <a:p>
            <a:pPr>
              <a:spcAft>
                <a:spcPts val="600"/>
              </a:spcAft>
              <a:defRPr sz="1300">
                <a:solidFill>
                  <a:srgbClr val="333333"/>
                </a:solidFill>
                <a:latin typeface="Yu Gothic"/>
              </a:defRPr>
            </a:pPr>
            <a:r>
              <a:t>開発したシステム・プロンプト・ノウハウは全て貴社の資産として蓄積</a:t>
            </a:r>
          </a:p>
          <a:p>
            <a:pPr>
              <a:spcAft>
                <a:spcPts val="600"/>
              </a:spcAft>
              <a:defRPr sz="1300">
                <a:solidFill>
                  <a:srgbClr val="333333"/>
                </a:solidFill>
                <a:latin typeface="Yu Gothic"/>
              </a:defRPr>
            </a:pPr>
            <a:r>
              <a:t>月単位で柔軟に調整可能 — 不要になれば即座に縮小・停止できる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コスト比較 — なぜAI開発BPOが最適か</a:t>
            </a:r>
          </a:p>
        </p:txBody>
      </p:sp>
      <p:sp>
        <p:nvSpPr>
          <p:cNvPr id="4" name="Rectangle 3"/>
          <p:cNvSpPr/>
          <p:nvPr/>
        </p:nvSpPr>
        <p:spPr>
          <a:xfrm>
            <a:off x="365760" y="822960"/>
            <a:ext cx="8412480" cy="438912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【通常のシステム開発】初期500万〜3,000万円＋保守月額10-30万円。要件変更に弱い</a:t>
            </a:r>
          </a:p>
          <a:p>
            <a:pPr>
              <a:spcAft>
                <a:spcPts val="600"/>
              </a:spcAft>
              <a:defRPr sz="1300">
                <a:solidFill>
                  <a:srgbClr val="333333"/>
                </a:solidFill>
                <a:latin typeface="Yu Gothic"/>
              </a:defRPr>
            </a:pPr>
            <a:r>
              <a:t>【RPO（採用代行）】月60万円 × 12ヶ月 = 年720万円。データ・ノウハウが残らない</a:t>
            </a:r>
          </a:p>
          <a:p>
            <a:pPr>
              <a:spcAft>
                <a:spcPts val="600"/>
              </a:spcAft>
              <a:defRPr sz="1300">
                <a:solidFill>
                  <a:srgbClr val="333333"/>
                </a:solidFill>
                <a:latin typeface="Yu Gothic"/>
              </a:defRPr>
            </a:pPr>
            <a:r>
              <a:t>【エン転職】88万円/8週間で応募5人。採用単価17.6万円/人でミスマッチ多発</a:t>
            </a:r>
          </a:p>
          <a:p>
            <a:pPr>
              <a:spcAft>
                <a:spcPts val="600"/>
              </a:spcAft>
              <a:defRPr sz="1300">
                <a:solidFill>
                  <a:srgbClr val="333333"/>
                </a:solidFill>
                <a:latin typeface="Yu Gothic"/>
              </a:defRPr>
            </a:pPr>
            <a:r>
              <a:t>【AI開発BPO】月40万円 × 6ヶ月 = 240万円。成果物・ノウハウは全て自社資産に</a:t>
            </a:r>
          </a:p>
          <a:p>
            <a:pPr>
              <a:spcAft>
                <a:spcPts val="600"/>
              </a:spcAft>
              <a:defRPr sz="1300" b="1">
                <a:solidFill>
                  <a:srgbClr val="006ED6"/>
                </a:solidFill>
                <a:latin typeface="Yu Gothic"/>
              </a:defRPr>
            </a:pPr>
            <a:r>
              <a:t>→ 補助金活用で実質120万円以下も可能。6ヶ月後は月額縮小して運用継続可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開発スコープ — 6ヶ月で構築するAI基盤</a:t>
            </a:r>
          </a:p>
        </p:txBody>
      </p:sp>
      <p:sp>
        <p:nvSpPr>
          <p:cNvPr id="4" name="TextBox 3"/>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Phase 1（Month 1-2）：業務分析 &amp; クイックウィン</a:t>
            </a:r>
          </a:p>
          <a:p>
            <a:pPr lvl="1">
              <a:spcAft>
                <a:spcPts val="600"/>
              </a:spcAft>
              <a:defRPr sz="1200">
                <a:solidFill>
                  <a:srgbClr val="333333"/>
                </a:solidFill>
                <a:latin typeface="Yu Gothic"/>
              </a:defRPr>
            </a:pPr>
            <a:r>
              <a:t>全営業業務のマインドマップ作成・AI化優先度の策定</a:t>
            </a:r>
          </a:p>
          <a:p>
            <a:pPr lvl="1">
              <a:spcAft>
                <a:spcPts val="600"/>
              </a:spcAft>
              <a:defRPr sz="1200">
                <a:solidFill>
                  <a:srgbClr val="333333"/>
                </a:solidFill>
                <a:latin typeface="Yu Gothic"/>
              </a:defRPr>
            </a:pPr>
            <a:r>
              <a:t>営業事前準備の自動化（顧客情報・競合・市場データの自動収集）</a:t>
            </a:r>
          </a:p>
          <a:p>
            <a:pPr lvl="1">
              <a:spcAft>
                <a:spcPts val="600"/>
              </a:spcAft>
              <a:defRPr sz="1200">
                <a:solidFill>
                  <a:srgbClr val="333333"/>
                </a:solidFill>
                <a:latin typeface="Yu Gothic"/>
              </a:defRPr>
            </a:pPr>
            <a:r>
              <a:t>議事録自動作成システムの導入</a:t>
            </a:r>
          </a:p>
          <a:p>
            <a:pPr>
              <a:spcAft>
                <a:spcPts val="600"/>
              </a:spcAft>
              <a:defRPr sz="1300">
                <a:solidFill>
                  <a:srgbClr val="333333"/>
                </a:solidFill>
                <a:latin typeface="Yu Gothic"/>
              </a:defRPr>
            </a:pPr>
            <a:r>
              <a:t>Phase 2（Month 3-4）：コアシステム開発</a:t>
            </a:r>
          </a:p>
          <a:p>
            <a:pPr lvl="1">
              <a:spcAft>
                <a:spcPts val="600"/>
              </a:spcAft>
              <a:defRPr sz="1200">
                <a:solidFill>
                  <a:srgbClr val="333333"/>
                </a:solidFill>
                <a:latin typeface="Yu Gothic"/>
              </a:defRPr>
            </a:pPr>
            <a:r>
              <a:t>面接スコアリングAIの構築</a:t>
            </a:r>
          </a:p>
          <a:p>
            <a:pPr lvl="1">
              <a:spcAft>
                <a:spcPts val="600"/>
              </a:spcAft>
              <a:defRPr sz="1200">
                <a:solidFill>
                  <a:srgbClr val="333333"/>
                </a:solidFill>
                <a:latin typeface="Yu Gothic"/>
              </a:defRPr>
            </a:pPr>
            <a:r>
              <a:t>SNS採用コンテンツ企画・ブランド方針策定</a:t>
            </a:r>
          </a:p>
          <a:p>
            <a:pPr lvl="1">
              <a:spcAft>
                <a:spcPts val="600"/>
              </a:spcAft>
              <a:defRPr sz="1200">
                <a:solidFill>
                  <a:srgbClr val="333333"/>
                </a:solidFill>
                <a:latin typeface="Yu Gothic"/>
              </a:defRPr>
            </a:pPr>
            <a:r>
              <a:t>営業管理ダッシュボードの開発</a:t>
            </a:r>
          </a:p>
          <a:p>
            <a:pPr>
              <a:spcAft>
                <a:spcPts val="600"/>
              </a:spcAft>
              <a:defRPr sz="1300">
                <a:solidFill>
                  <a:srgbClr val="333333"/>
                </a:solidFill>
                <a:latin typeface="Yu Gothic"/>
              </a:defRPr>
            </a:pPr>
            <a:r>
              <a:t>Phase 3（Month 5-6）：運用定着 &amp; 拡張</a:t>
            </a:r>
          </a:p>
          <a:p>
            <a:pPr lvl="1">
              <a:spcAft>
                <a:spcPts val="600"/>
              </a:spcAft>
              <a:defRPr sz="1200">
                <a:solidFill>
                  <a:srgbClr val="333333"/>
                </a:solidFill>
                <a:latin typeface="Yu Gothic"/>
              </a:defRPr>
            </a:pPr>
            <a:r>
              <a:t>全システムの運用定着支援・改善</a:t>
            </a:r>
          </a:p>
          <a:p>
            <a:pPr lvl="1">
              <a:spcAft>
                <a:spcPts val="600"/>
              </a:spcAft>
              <a:defRPr sz="1200">
                <a:solidFill>
                  <a:srgbClr val="333333"/>
                </a:solidFill>
                <a:latin typeface="Yu Gothic"/>
              </a:defRPr>
            </a:pPr>
            <a:r>
              <a:t>営業マンの質と管理体制の確立</a:t>
            </a:r>
          </a:p>
          <a:p>
            <a:pPr lvl="1">
              <a:spcAft>
                <a:spcPts val="600"/>
              </a:spcAft>
              <a:defRPr sz="1200">
                <a:solidFill>
                  <a:srgbClr val="333333"/>
                </a:solidFill>
                <a:latin typeface="Yu Gothic"/>
              </a:defRPr>
            </a:pPr>
            <a:r>
              <a:t>効果測定・ROI検証・次期計画策定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期待される効果 — 売上インパクト</a:t>
            </a:r>
          </a:p>
        </p:txBody>
      </p:sp>
      <p:sp>
        <p:nvSpPr>
          <p:cNvPr id="4" name="TextBox 3"/>
          <p:cNvSpPr txBox="1"/>
          <p:nvPr/>
        </p:nvSpPr>
        <p:spPr>
          <a:xfrm>
            <a:off x="548640" y="868680"/>
            <a:ext cx="8046720" cy="365760"/>
          </a:xfrm>
          <a:prstGeom prst="rect">
            <a:avLst/>
          </a:prstGeom>
          <a:noFill/>
        </p:spPr>
        <p:txBody>
          <a:bodyPr wrap="square">
            <a:spAutoFit/>
          </a:bodyPr>
          <a:lstStyle/>
          <a:p>
            <a:pPr algn="l">
              <a:defRPr sz="1400" b="1">
                <a:solidFill>
                  <a:srgbClr val="006ED6"/>
                </a:solidFill>
                <a:latin typeface="Yu Gothic"/>
              </a:defRPr>
            </a:pPr>
            <a:r>
              <a:t>従業員の業務時間削減 × 営業の質向上 × 管理体制構築</a:t>
            </a:r>
          </a:p>
        </p:txBody>
      </p:sp>
      <p:sp>
        <p:nvSpPr>
          <p:cNvPr id="5" name="Rectangle 4"/>
          <p:cNvSpPr/>
          <p:nvPr/>
        </p:nvSpPr>
        <p:spPr>
          <a:xfrm>
            <a:off x="365760" y="1188720"/>
            <a:ext cx="8412480" cy="438912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7680960" cy="4114800"/>
          </a:xfrm>
          <a:prstGeom prst="rect">
            <a:avLst/>
          </a:prstGeom>
          <a:noFill/>
        </p:spPr>
        <p:txBody>
          <a:bodyPr wrap="square">
            <a:spAutoFit/>
          </a:bodyPr>
          <a:lstStyle/>
          <a:p>
            <a:pPr>
              <a:spcAft>
                <a:spcPts val="600"/>
              </a:spcAft>
              <a:defRPr sz="1300">
                <a:solidFill>
                  <a:srgbClr val="333333"/>
                </a:solidFill>
                <a:latin typeface="Yu Gothic"/>
              </a:defRPr>
            </a:pPr>
            <a:r>
              <a:t>【業務時間削減】営業1人あたり月20-30時間の定型業務を自動化 → 5人で月100-150時間創出</a:t>
            </a:r>
          </a:p>
          <a:p>
            <a:pPr>
              <a:spcAft>
                <a:spcPts val="600"/>
              </a:spcAft>
              <a:defRPr sz="1300">
                <a:solidFill>
                  <a:srgbClr val="333333"/>
                </a:solidFill>
                <a:latin typeface="Yu Gothic"/>
              </a:defRPr>
            </a:pPr>
            <a:r>
              <a:t>【営業の質向上】AI事前準備で商談精度UP → 受注率15-20%向上（士業事例の実績値ベース）</a:t>
            </a:r>
          </a:p>
          <a:p>
            <a:pPr>
              <a:spcAft>
                <a:spcPts val="600"/>
              </a:spcAft>
              <a:defRPr sz="1300">
                <a:solidFill>
                  <a:srgbClr val="333333"/>
                </a:solidFill>
                <a:latin typeface="Yu Gothic"/>
              </a:defRPr>
            </a:pPr>
            <a:r>
              <a:t>【管理体制構築】営業ダッシュボードで案件・進捗を一元管理 → 属人化を解消</a:t>
            </a:r>
          </a:p>
          <a:p>
            <a:pPr>
              <a:spcAft>
                <a:spcPts val="600"/>
              </a:spcAft>
              <a:defRPr sz="1300">
                <a:solidFill>
                  <a:srgbClr val="333333"/>
                </a:solidFill>
                <a:latin typeface="Yu Gothic"/>
              </a:defRPr>
            </a:pPr>
            <a:r>
              <a:t>【採用コスト削減】SNS採用+AI面接で採用単価を17.6万円→5万円以下に削減</a:t>
            </a:r>
          </a:p>
          <a:p>
            <a:pPr>
              <a:spcAft>
                <a:spcPts val="600"/>
              </a:spcAft>
              <a:defRPr sz="1300">
                <a:solidFill>
                  <a:srgbClr val="333333"/>
                </a:solidFill>
                <a:latin typeface="Yu Gothic"/>
              </a:defRPr>
            </a:pPr>
            <a:r>
              <a:t>【売上インパクト】営業生産性1.5倍 × 管理精度向上 → 年間数千万円の売上増を目指せる</a:t>
            </a:r>
          </a:p>
          <a:p>
            <a:pPr>
              <a:spcAft>
                <a:spcPts val="600"/>
              </a:spcAft>
              <a:defRPr sz="1300">
                <a:solidFill>
                  <a:srgbClr val="333333"/>
                </a:solidFill>
                <a:latin typeface="Yu Gothic"/>
              </a:defRPr>
            </a:pPr>
            <a:r>
              <a:t>【ブランド効果】「DX先進工務店」として採用力・顧客獲得力が同時に向上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リスクと対策</a:t>
            </a:r>
          </a:p>
        </p:txBody>
      </p:sp>
      <p:sp>
        <p:nvSpPr>
          <p:cNvPr id="4" name="TextBox 3"/>
          <p:cNvSpPr txBox="1"/>
          <p:nvPr/>
        </p:nvSpPr>
        <p:spPr>
          <a:xfrm>
            <a:off x="731520" y="914400"/>
            <a:ext cx="7680960" cy="4114800"/>
          </a:xfrm>
          <a:prstGeom prst="rect">
            <a:avLst/>
          </a:prstGeom>
          <a:noFill/>
        </p:spPr>
        <p:txBody>
          <a:bodyPr wrap="square">
            <a:spAutoFit/>
          </a:bodyPr>
          <a:lstStyle/>
          <a:p>
            <a:pPr>
              <a:spcAft>
                <a:spcPts val="600"/>
              </a:spcAft>
              <a:defRPr sz="1300">
                <a:solidFill>
                  <a:srgbClr val="333333"/>
                </a:solidFill>
                <a:latin typeface="Yu Gothic"/>
              </a:defRPr>
            </a:pPr>
            <a:r>
              <a:t>【リスク】社内のデジタルリテラシー不足で定着しない → 【対策】簡単な業務から段階導入、伴走型支援で定着まで支援</a:t>
            </a:r>
          </a:p>
          <a:p>
            <a:pPr>
              <a:spcAft>
                <a:spcPts val="600"/>
              </a:spcAft>
              <a:defRPr sz="1300">
                <a:solidFill>
                  <a:srgbClr val="333333"/>
                </a:solidFill>
                <a:latin typeface="Yu Gothic"/>
              </a:defRPr>
            </a:pPr>
            <a:r>
              <a:t>【リスク】補助金が不採択 → 【対策】複数枠に同時申請。不採択でもスモールスタート（月40万円×3ヶ月=120万円）で検証可能</a:t>
            </a:r>
          </a:p>
          <a:p>
            <a:pPr>
              <a:spcAft>
                <a:spcPts val="600"/>
              </a:spcAft>
              <a:defRPr sz="1300">
                <a:solidFill>
                  <a:srgbClr val="333333"/>
                </a:solidFill>
                <a:latin typeface="Yu Gothic"/>
              </a:defRPr>
            </a:pPr>
            <a:r>
              <a:t>【リスク】AI導入の効果が想定以下 → 【対策】月単位で柔軟に調整。不要なら即縮小・停止可</a:t>
            </a:r>
          </a:p>
          <a:p>
            <a:pPr>
              <a:spcAft>
                <a:spcPts val="600"/>
              </a:spcAft>
              <a:defRPr sz="1300">
                <a:solidFill>
                  <a:srgbClr val="333333"/>
                </a:solidFill>
                <a:latin typeface="Yu Gothic"/>
              </a:defRPr>
            </a:pPr>
            <a:r>
              <a:t>【リスク】SNS運用の専任リソースがない → 【対策】BPOスコープ内でコンテンツ企画・テンプレート作成を支援</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実行ロードマップ</a:t>
            </a:r>
          </a:p>
        </p:txBody>
      </p:sp>
      <p:sp>
        <p:nvSpPr>
          <p:cNvPr id="4" name="TextBox 3"/>
          <p:cNvSpPr txBox="1"/>
          <p:nvPr/>
        </p:nvSpPr>
        <p:spPr>
          <a:xfrm>
            <a:off x="548640" y="868680"/>
            <a:ext cx="8046720" cy="365760"/>
          </a:xfrm>
          <a:prstGeom prst="rect">
            <a:avLst/>
          </a:prstGeom>
          <a:noFill/>
        </p:spPr>
        <p:txBody>
          <a:bodyPr wrap="square">
            <a:spAutoFit/>
          </a:bodyPr>
          <a:lstStyle/>
          <a:p>
            <a:pPr algn="l">
              <a:defRPr sz="1400" b="1">
                <a:solidFill>
                  <a:srgbClr val="006ED6"/>
                </a:solidFill>
                <a:latin typeface="Yu Gothic"/>
              </a:defRPr>
            </a:pPr>
            <a:r>
              <a:t>6ヶ月の開発計画 + 補助金申請スケジュール</a:t>
            </a:r>
          </a:p>
        </p:txBody>
      </p:sp>
      <p:sp>
        <p:nvSpPr>
          <p:cNvPr id="5" name="TextBox 4"/>
          <p:cNvSpPr txBox="1"/>
          <p:nvPr/>
        </p:nvSpPr>
        <p:spPr>
          <a:xfrm>
            <a:off x="731520" y="1280160"/>
            <a:ext cx="7680960" cy="4114800"/>
          </a:xfrm>
          <a:prstGeom prst="rect">
            <a:avLst/>
          </a:prstGeom>
          <a:noFill/>
        </p:spPr>
        <p:txBody>
          <a:bodyPr wrap="square">
            <a:spAutoFit/>
          </a:bodyPr>
          <a:lstStyle/>
          <a:p>
            <a:pPr>
              <a:spcAft>
                <a:spcPts val="600"/>
              </a:spcAft>
              <a:defRPr sz="1300">
                <a:solidFill>
                  <a:srgbClr val="333333"/>
                </a:solidFill>
                <a:latin typeface="Yu Gothic"/>
              </a:defRPr>
            </a:pPr>
            <a:r>
              <a:t>【Month 0】ご契約・キックオフ・業務ヒアリング開始</a:t>
            </a:r>
          </a:p>
          <a:p>
            <a:pPr>
              <a:spcAft>
                <a:spcPts val="600"/>
              </a:spcAft>
              <a:defRPr sz="1300">
                <a:solidFill>
                  <a:srgbClr val="333333"/>
                </a:solidFill>
                <a:latin typeface="Yu Gothic"/>
              </a:defRPr>
            </a:pPr>
            <a:r>
              <a:t>【Month 1】業務マインドマップ作成・議事録AI導入・補助金申請準備</a:t>
            </a:r>
          </a:p>
          <a:p>
            <a:pPr>
              <a:spcAft>
                <a:spcPts val="600"/>
              </a:spcAft>
              <a:defRPr sz="1300">
                <a:solidFill>
                  <a:srgbClr val="333333"/>
                </a:solidFill>
                <a:latin typeface="Yu Gothic"/>
              </a:defRPr>
            </a:pPr>
            <a:r>
              <a:t>【Month 2】営業事前準備AI開発・SNSブランド方針策定</a:t>
            </a:r>
          </a:p>
          <a:p>
            <a:pPr>
              <a:spcAft>
                <a:spcPts val="600"/>
              </a:spcAft>
              <a:defRPr sz="1300">
                <a:solidFill>
                  <a:srgbClr val="333333"/>
                </a:solidFill>
                <a:latin typeface="Yu Gothic"/>
              </a:defRPr>
            </a:pPr>
            <a:r>
              <a:t>【Month 3】面接スコアリングAI構築・Instagram/TikTok運用開始</a:t>
            </a:r>
          </a:p>
          <a:p>
            <a:pPr>
              <a:spcAft>
                <a:spcPts val="600"/>
              </a:spcAft>
              <a:defRPr sz="1300">
                <a:solidFill>
                  <a:srgbClr val="333333"/>
                </a:solidFill>
                <a:latin typeface="Yu Gothic"/>
              </a:defRPr>
            </a:pPr>
            <a:r>
              <a:t>【Month 4】営業管理ダッシュボード開発・採用コンテンツ制作</a:t>
            </a:r>
          </a:p>
          <a:p>
            <a:pPr>
              <a:spcAft>
                <a:spcPts val="600"/>
              </a:spcAft>
              <a:defRPr sz="1300">
                <a:solidFill>
                  <a:srgbClr val="333333"/>
                </a:solidFill>
                <a:latin typeface="Yu Gothic"/>
              </a:defRPr>
            </a:pPr>
            <a:r>
              <a:t>【Month 5】全システム統合テスト・運用トレーニング</a:t>
            </a:r>
          </a:p>
          <a:p>
            <a:pPr>
              <a:spcAft>
                <a:spcPts val="600"/>
              </a:spcAft>
              <a:defRPr sz="1300">
                <a:solidFill>
                  <a:srgbClr val="333333"/>
                </a:solidFill>
                <a:latin typeface="Yu Gothic"/>
              </a:defRPr>
            </a:pPr>
            <a:r>
              <a:t>【Month 6】効果測定・ROI検証・次期計画策定・運用引き継ぎ</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548640"/>
          </a:xfrm>
          <a:prstGeom prst="rect">
            <a:avLst/>
          </a:prstGeom>
          <a:noFill/>
        </p:spPr>
        <p:txBody>
          <a:bodyPr wrap="square">
            <a:spAutoFit/>
          </a:bodyPr>
          <a:lstStyle/>
          <a:p>
            <a:pPr algn="l">
              <a:defRPr sz="2400" b="1">
                <a:solidFill>
                  <a:srgbClr val="1A1A2E"/>
                </a:solidFill>
                <a:latin typeface="Yu Gothic"/>
              </a:defRPr>
            </a:pPr>
            <a:r>
              <a:t>料金プラン</a:t>
            </a:r>
          </a:p>
        </p:txBody>
      </p:sp>
      <p:sp>
        <p:nvSpPr>
          <p:cNvPr id="4" name="Rectangle 3"/>
          <p:cNvSpPr/>
          <p:nvPr/>
        </p:nvSpPr>
        <p:spPr>
          <a:xfrm>
            <a:off x="457200" y="1005840"/>
            <a:ext cx="3840480" cy="25603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88720"/>
            <a:ext cx="3291840" cy="365760"/>
          </a:xfrm>
          <a:prstGeom prst="rect">
            <a:avLst/>
          </a:prstGeom>
          <a:noFill/>
        </p:spPr>
        <p:txBody>
          <a:bodyPr wrap="square">
            <a:spAutoFit/>
          </a:bodyPr>
          <a:lstStyle/>
          <a:p>
            <a:pPr algn="l">
              <a:defRPr sz="1600" b="1">
                <a:solidFill>
                  <a:srgbClr val="FFFFFF"/>
                </a:solidFill>
                <a:latin typeface="Yu Gothic"/>
              </a:defRPr>
            </a:pPr>
            <a:r>
              <a:t>AI開発BPO 基本プラン</a:t>
            </a:r>
          </a:p>
        </p:txBody>
      </p:sp>
      <p:sp>
        <p:nvSpPr>
          <p:cNvPr id="6" name="TextBox 5"/>
          <p:cNvSpPr txBox="1"/>
          <p:nvPr/>
        </p:nvSpPr>
        <p:spPr>
          <a:xfrm>
            <a:off x="731520" y="1645920"/>
            <a:ext cx="3291840" cy="457200"/>
          </a:xfrm>
          <a:prstGeom prst="rect">
            <a:avLst/>
          </a:prstGeom>
          <a:noFill/>
        </p:spPr>
        <p:txBody>
          <a:bodyPr wrap="square">
            <a:spAutoFit/>
          </a:bodyPr>
          <a:lstStyle/>
          <a:p>
            <a:pPr algn="l">
              <a:defRPr sz="2800" b="1">
                <a:solidFill>
                  <a:srgbClr val="006ED6"/>
                </a:solidFill>
                <a:latin typeface="Yu Gothic"/>
              </a:defRPr>
            </a:pPr>
            <a:r>
              <a:t>月額 40万円（税別）</a:t>
            </a:r>
          </a:p>
        </p:txBody>
      </p:sp>
      <p:sp>
        <p:nvSpPr>
          <p:cNvPr id="7" name="TextBox 6"/>
          <p:cNvSpPr txBox="1"/>
          <p:nvPr/>
        </p:nvSpPr>
        <p:spPr>
          <a:xfrm>
            <a:off x="731520" y="2194560"/>
            <a:ext cx="3291840" cy="274320"/>
          </a:xfrm>
          <a:prstGeom prst="rect">
            <a:avLst/>
          </a:prstGeom>
          <a:noFill/>
        </p:spPr>
        <p:txBody>
          <a:bodyPr wrap="square">
            <a:spAutoFit/>
          </a:bodyPr>
          <a:lstStyle/>
          <a:p>
            <a:pPr algn="l">
              <a:defRPr sz="1200" b="0">
                <a:solidFill>
                  <a:srgbClr val="BBBBBB"/>
                </a:solidFill>
                <a:latin typeface="Yu Gothic"/>
              </a:defRPr>
            </a:pPr>
            <a:r>
              <a:t>時間単価：1万円/時間 × 月40時間</a:t>
            </a:r>
          </a:p>
        </p:txBody>
      </p:sp>
      <p:sp>
        <p:nvSpPr>
          <p:cNvPr id="8" name="TextBox 7"/>
          <p:cNvSpPr txBox="1"/>
          <p:nvPr/>
        </p:nvSpPr>
        <p:spPr>
          <a:xfrm>
            <a:off x="731520" y="2560320"/>
            <a:ext cx="3291840" cy="274320"/>
          </a:xfrm>
          <a:prstGeom prst="rect">
            <a:avLst/>
          </a:prstGeom>
          <a:noFill/>
        </p:spPr>
        <p:txBody>
          <a:bodyPr wrap="square">
            <a:spAutoFit/>
          </a:bodyPr>
          <a:lstStyle/>
          <a:p>
            <a:pPr algn="l">
              <a:defRPr sz="1200" b="0">
                <a:solidFill>
                  <a:srgbClr val="BBBBBB"/>
                </a:solidFill>
                <a:latin typeface="Yu Gothic"/>
              </a:defRPr>
            </a:pPr>
            <a:r>
              <a:t>契約期間：6ヶ月〜（月単位で調整可能）</a:t>
            </a:r>
          </a:p>
        </p:txBody>
      </p:sp>
      <p:sp>
        <p:nvSpPr>
          <p:cNvPr id="9" name="TextBox 8"/>
          <p:cNvSpPr txBox="1"/>
          <p:nvPr/>
        </p:nvSpPr>
        <p:spPr>
          <a:xfrm>
            <a:off x="731520" y="2926080"/>
            <a:ext cx="3291840" cy="457200"/>
          </a:xfrm>
          <a:prstGeom prst="rect">
            <a:avLst/>
          </a:prstGeom>
          <a:noFill/>
        </p:spPr>
        <p:txBody>
          <a:bodyPr wrap="square">
            <a:spAutoFit/>
          </a:bodyPr>
          <a:lstStyle/>
          <a:p>
            <a:pPr algn="l">
              <a:defRPr sz="1400" b="1">
                <a:solidFill>
                  <a:srgbClr val="FFFFFF"/>
                </a:solidFill>
                <a:latin typeface="Yu Gothic"/>
              </a:defRPr>
            </a:pPr>
            <a:r>
              <a:t>6ヶ月トータル：240万円</a:t>
            </a:r>
          </a:p>
        </p:txBody>
      </p:sp>
      <p:sp>
        <p:nvSpPr>
          <p:cNvPr id="10" name="TextBox 9"/>
          <p:cNvSpPr txBox="1"/>
          <p:nvPr/>
        </p:nvSpPr>
        <p:spPr>
          <a:xfrm>
            <a:off x="731520" y="3200400"/>
            <a:ext cx="3291840" cy="274320"/>
          </a:xfrm>
          <a:prstGeom prst="rect">
            <a:avLst/>
          </a:prstGeom>
          <a:noFill/>
        </p:spPr>
        <p:txBody>
          <a:bodyPr wrap="square">
            <a:spAutoFit/>
          </a:bodyPr>
          <a:lstStyle/>
          <a:p>
            <a:pPr algn="l">
              <a:defRPr sz="1300" b="1">
                <a:solidFill>
                  <a:srgbClr val="00A67E"/>
                </a:solidFill>
                <a:latin typeface="Yu Gothic"/>
              </a:defRPr>
            </a:pPr>
            <a:r>
              <a:t>補助金活用時：実質120万円以下</a:t>
            </a:r>
          </a:p>
        </p:txBody>
      </p:sp>
      <p:sp>
        <p:nvSpPr>
          <p:cNvPr id="11" name="Rectangle 10"/>
          <p:cNvSpPr/>
          <p:nvPr/>
        </p:nvSpPr>
        <p:spPr>
          <a:xfrm>
            <a:off x="4754880" y="1005840"/>
            <a:ext cx="3931920" cy="256032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0" y="1188720"/>
            <a:ext cx="3474720" cy="365760"/>
          </a:xfrm>
          <a:prstGeom prst="rect">
            <a:avLst/>
          </a:prstGeom>
          <a:noFill/>
        </p:spPr>
        <p:txBody>
          <a:bodyPr wrap="square">
            <a:spAutoFit/>
          </a:bodyPr>
          <a:lstStyle/>
          <a:p>
            <a:pPr algn="l">
              <a:defRPr sz="1600" b="1">
                <a:solidFill>
                  <a:srgbClr val="1A1A2E"/>
                </a:solidFill>
                <a:latin typeface="Yu Gothic"/>
              </a:defRPr>
            </a:pPr>
            <a:r>
              <a:t>含まれるサービス</a:t>
            </a:r>
          </a:p>
        </p:txBody>
      </p:sp>
      <p:sp>
        <p:nvSpPr>
          <p:cNvPr id="13" name="TextBox 12"/>
          <p:cNvSpPr txBox="1"/>
          <p:nvPr/>
        </p:nvSpPr>
        <p:spPr>
          <a:xfrm>
            <a:off x="5029200" y="1645920"/>
            <a:ext cx="3474720" cy="320040"/>
          </a:xfrm>
          <a:prstGeom prst="rect">
            <a:avLst/>
          </a:prstGeom>
          <a:noFill/>
        </p:spPr>
        <p:txBody>
          <a:bodyPr wrap="square">
            <a:spAutoFit/>
          </a:bodyPr>
          <a:lstStyle/>
          <a:p>
            <a:pPr algn="l">
              <a:defRPr sz="1100" b="0">
                <a:solidFill>
                  <a:srgbClr val="333333"/>
                </a:solidFill>
                <a:latin typeface="Yu Gothic"/>
              </a:defRPr>
            </a:pPr>
            <a:r>
              <a:t>  AI業務分析・設計・開発・テスト・導入支援</a:t>
            </a:r>
          </a:p>
        </p:txBody>
      </p:sp>
      <p:sp>
        <p:nvSpPr>
          <p:cNvPr id="14" name="TextBox 13"/>
          <p:cNvSpPr txBox="1"/>
          <p:nvPr/>
        </p:nvSpPr>
        <p:spPr>
          <a:xfrm>
            <a:off x="5029200" y="1975104"/>
            <a:ext cx="3474720" cy="320040"/>
          </a:xfrm>
          <a:prstGeom prst="rect">
            <a:avLst/>
          </a:prstGeom>
          <a:noFill/>
        </p:spPr>
        <p:txBody>
          <a:bodyPr wrap="square">
            <a:spAutoFit/>
          </a:bodyPr>
          <a:lstStyle/>
          <a:p>
            <a:pPr algn="l">
              <a:defRPr sz="1100" b="0">
                <a:solidFill>
                  <a:srgbClr val="333333"/>
                </a:solidFill>
                <a:latin typeface="Yu Gothic"/>
              </a:defRPr>
            </a:pPr>
            <a:r>
              <a:t>  営業AI・採用AI・管理ダッシュボードの構築</a:t>
            </a:r>
          </a:p>
        </p:txBody>
      </p:sp>
      <p:sp>
        <p:nvSpPr>
          <p:cNvPr id="15" name="TextBox 14"/>
          <p:cNvSpPr txBox="1"/>
          <p:nvPr/>
        </p:nvSpPr>
        <p:spPr>
          <a:xfrm>
            <a:off x="5029200" y="2304288"/>
            <a:ext cx="3474720" cy="320040"/>
          </a:xfrm>
          <a:prstGeom prst="rect">
            <a:avLst/>
          </a:prstGeom>
          <a:noFill/>
        </p:spPr>
        <p:txBody>
          <a:bodyPr wrap="square">
            <a:spAutoFit/>
          </a:bodyPr>
          <a:lstStyle/>
          <a:p>
            <a:pPr algn="l">
              <a:defRPr sz="1100" b="0">
                <a:solidFill>
                  <a:srgbClr val="333333"/>
                </a:solidFill>
                <a:latin typeface="Yu Gothic"/>
              </a:defRPr>
            </a:pPr>
            <a:r>
              <a:t>  SNS採用戦略の企画・テンプレート作成</a:t>
            </a:r>
          </a:p>
        </p:txBody>
      </p:sp>
      <p:sp>
        <p:nvSpPr>
          <p:cNvPr id="16" name="TextBox 15"/>
          <p:cNvSpPr txBox="1"/>
          <p:nvPr/>
        </p:nvSpPr>
        <p:spPr>
          <a:xfrm>
            <a:off x="5029200" y="2633472"/>
            <a:ext cx="3474720" cy="320040"/>
          </a:xfrm>
          <a:prstGeom prst="rect">
            <a:avLst/>
          </a:prstGeom>
          <a:noFill/>
        </p:spPr>
        <p:txBody>
          <a:bodyPr wrap="square">
            <a:spAutoFit/>
          </a:bodyPr>
          <a:lstStyle/>
          <a:p>
            <a:pPr algn="l">
              <a:defRPr sz="1100" b="0">
                <a:solidFill>
                  <a:srgbClr val="333333"/>
                </a:solidFill>
                <a:latin typeface="Yu Gothic"/>
              </a:defRPr>
            </a:pPr>
            <a:r>
              <a:t>  補助金申請サポート</a:t>
            </a:r>
          </a:p>
        </p:txBody>
      </p:sp>
      <p:sp>
        <p:nvSpPr>
          <p:cNvPr id="17" name="TextBox 16"/>
          <p:cNvSpPr txBox="1"/>
          <p:nvPr/>
        </p:nvSpPr>
        <p:spPr>
          <a:xfrm>
            <a:off x="5029200" y="2962656"/>
            <a:ext cx="3474720" cy="320040"/>
          </a:xfrm>
          <a:prstGeom prst="rect">
            <a:avLst/>
          </a:prstGeom>
          <a:noFill/>
        </p:spPr>
        <p:txBody>
          <a:bodyPr wrap="square">
            <a:spAutoFit/>
          </a:bodyPr>
          <a:lstStyle/>
          <a:p>
            <a:pPr algn="l">
              <a:defRPr sz="1100" b="0">
                <a:solidFill>
                  <a:srgbClr val="333333"/>
                </a:solidFill>
                <a:latin typeface="Yu Gothic"/>
              </a:defRPr>
            </a:pPr>
            <a:r>
              <a:t>  月次レポート・進捗報告会</a:t>
            </a:r>
          </a:p>
        </p:txBody>
      </p:sp>
      <p:sp>
        <p:nvSpPr>
          <p:cNvPr id="18" name="TextBox 17"/>
          <p:cNvSpPr txBox="1"/>
          <p:nvPr/>
        </p:nvSpPr>
        <p:spPr>
          <a:xfrm>
            <a:off x="548640" y="3840480"/>
            <a:ext cx="8046720" cy="365760"/>
          </a:xfrm>
          <a:prstGeom prst="rect">
            <a:avLst/>
          </a:prstGeom>
          <a:noFill/>
        </p:spPr>
        <p:txBody>
          <a:bodyPr wrap="square">
            <a:spAutoFit/>
          </a:bodyPr>
          <a:lstStyle/>
          <a:p>
            <a:pPr algn="l">
              <a:defRPr sz="1400" b="1">
                <a:solidFill>
                  <a:srgbClr val="1A1A2E"/>
                </a:solidFill>
                <a:latin typeface="Yu Gothic"/>
              </a:defRPr>
            </a:pPr>
            <a:r>
              <a:t>他の選択肢との比較</a:t>
            </a:r>
          </a:p>
        </p:txBody>
      </p:sp>
      <p:sp>
        <p:nvSpPr>
          <p:cNvPr id="19" name="Rectangle 18"/>
          <p:cNvSpPr/>
          <p:nvPr/>
        </p:nvSpPr>
        <p:spPr>
          <a:xfrm>
            <a:off x="457200" y="4251960"/>
            <a:ext cx="192024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800" y="4297680"/>
            <a:ext cx="1828800" cy="274320"/>
          </a:xfrm>
          <a:prstGeom prst="rect">
            <a:avLst/>
          </a:prstGeom>
          <a:noFill/>
        </p:spPr>
        <p:txBody>
          <a:bodyPr wrap="square">
            <a:spAutoFit/>
          </a:bodyPr>
          <a:lstStyle/>
          <a:p>
            <a:pPr algn="l">
              <a:defRPr sz="1000" b="0">
                <a:solidFill>
                  <a:srgbClr val="666666"/>
                </a:solidFill>
                <a:latin typeface="Yu Gothic"/>
              </a:defRPr>
            </a:pPr>
            <a:r>
              <a:t>通常のシステム開発</a:t>
            </a:r>
          </a:p>
        </p:txBody>
      </p:sp>
      <p:sp>
        <p:nvSpPr>
          <p:cNvPr id="21" name="TextBox 20"/>
          <p:cNvSpPr txBox="1"/>
          <p:nvPr/>
        </p:nvSpPr>
        <p:spPr>
          <a:xfrm>
            <a:off x="558800" y="4526280"/>
            <a:ext cx="1828800" cy="274320"/>
          </a:xfrm>
          <a:prstGeom prst="rect">
            <a:avLst/>
          </a:prstGeom>
          <a:noFill/>
        </p:spPr>
        <p:txBody>
          <a:bodyPr wrap="square">
            <a:spAutoFit/>
          </a:bodyPr>
          <a:lstStyle/>
          <a:p>
            <a:pPr algn="l">
              <a:defRPr sz="1300" b="1">
                <a:solidFill>
                  <a:srgbClr val="FF8C00"/>
                </a:solidFill>
                <a:latin typeface="Yu Gothic"/>
              </a:defRPr>
            </a:pPr>
            <a:r>
              <a:t>500万〜3,000万円</a:t>
            </a:r>
          </a:p>
        </p:txBody>
      </p:sp>
      <p:sp>
        <p:nvSpPr>
          <p:cNvPr id="22" name="Rectangle 21"/>
          <p:cNvSpPr/>
          <p:nvPr/>
        </p:nvSpPr>
        <p:spPr>
          <a:xfrm>
            <a:off x="2560320" y="4251960"/>
            <a:ext cx="192024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61920" y="4297680"/>
            <a:ext cx="1828800" cy="274320"/>
          </a:xfrm>
          <a:prstGeom prst="rect">
            <a:avLst/>
          </a:prstGeom>
          <a:noFill/>
        </p:spPr>
        <p:txBody>
          <a:bodyPr wrap="square">
            <a:spAutoFit/>
          </a:bodyPr>
          <a:lstStyle/>
          <a:p>
            <a:pPr algn="l">
              <a:defRPr sz="1000" b="0">
                <a:solidFill>
                  <a:srgbClr val="666666"/>
                </a:solidFill>
                <a:latin typeface="Yu Gothic"/>
              </a:defRPr>
            </a:pPr>
            <a:r>
              <a:t>RPO（採用代行）</a:t>
            </a:r>
          </a:p>
        </p:txBody>
      </p:sp>
      <p:sp>
        <p:nvSpPr>
          <p:cNvPr id="24" name="TextBox 23"/>
          <p:cNvSpPr txBox="1"/>
          <p:nvPr/>
        </p:nvSpPr>
        <p:spPr>
          <a:xfrm>
            <a:off x="2661920" y="4526280"/>
            <a:ext cx="1828800" cy="274320"/>
          </a:xfrm>
          <a:prstGeom prst="rect">
            <a:avLst/>
          </a:prstGeom>
          <a:noFill/>
        </p:spPr>
        <p:txBody>
          <a:bodyPr wrap="square">
            <a:spAutoFit/>
          </a:bodyPr>
          <a:lstStyle/>
          <a:p>
            <a:pPr algn="l">
              <a:defRPr sz="1300" b="1">
                <a:solidFill>
                  <a:srgbClr val="FF8C00"/>
                </a:solidFill>
                <a:latin typeface="Yu Gothic"/>
              </a:defRPr>
            </a:pPr>
            <a:r>
              <a:t>年720万円</a:t>
            </a:r>
          </a:p>
        </p:txBody>
      </p:sp>
      <p:sp>
        <p:nvSpPr>
          <p:cNvPr id="25" name="Rectangle 24"/>
          <p:cNvSpPr/>
          <p:nvPr/>
        </p:nvSpPr>
        <p:spPr>
          <a:xfrm>
            <a:off x="4663440" y="4251960"/>
            <a:ext cx="1920240" cy="64008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5040" y="4297680"/>
            <a:ext cx="1828800" cy="274320"/>
          </a:xfrm>
          <a:prstGeom prst="rect">
            <a:avLst/>
          </a:prstGeom>
          <a:noFill/>
        </p:spPr>
        <p:txBody>
          <a:bodyPr wrap="square">
            <a:spAutoFit/>
          </a:bodyPr>
          <a:lstStyle/>
          <a:p>
            <a:pPr algn="l">
              <a:defRPr sz="1000" b="0">
                <a:solidFill>
                  <a:srgbClr val="666666"/>
                </a:solidFill>
                <a:latin typeface="Yu Gothic"/>
              </a:defRPr>
            </a:pPr>
            <a:r>
              <a:t>エン転職</a:t>
            </a:r>
          </a:p>
        </p:txBody>
      </p:sp>
      <p:sp>
        <p:nvSpPr>
          <p:cNvPr id="27" name="TextBox 26"/>
          <p:cNvSpPr txBox="1"/>
          <p:nvPr/>
        </p:nvSpPr>
        <p:spPr>
          <a:xfrm>
            <a:off x="4765040" y="4526280"/>
            <a:ext cx="1828800" cy="274320"/>
          </a:xfrm>
          <a:prstGeom prst="rect">
            <a:avLst/>
          </a:prstGeom>
          <a:noFill/>
        </p:spPr>
        <p:txBody>
          <a:bodyPr wrap="square">
            <a:spAutoFit/>
          </a:bodyPr>
          <a:lstStyle/>
          <a:p>
            <a:pPr algn="l">
              <a:defRPr sz="1300" b="1">
                <a:solidFill>
                  <a:srgbClr val="FF8C00"/>
                </a:solidFill>
                <a:latin typeface="Yu Gothic"/>
              </a:defRPr>
            </a:pPr>
            <a:r>
              <a:t>88万円/8週間</a:t>
            </a:r>
          </a:p>
        </p:txBody>
      </p:sp>
      <p:sp>
        <p:nvSpPr>
          <p:cNvPr id="28" name="Rectangle 27"/>
          <p:cNvSpPr/>
          <p:nvPr/>
        </p:nvSpPr>
        <p:spPr>
          <a:xfrm>
            <a:off x="6766559" y="4251960"/>
            <a:ext cx="1920240" cy="640080"/>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68159" y="4297680"/>
            <a:ext cx="1828800" cy="274320"/>
          </a:xfrm>
          <a:prstGeom prst="rect">
            <a:avLst/>
          </a:prstGeom>
          <a:noFill/>
        </p:spPr>
        <p:txBody>
          <a:bodyPr wrap="square">
            <a:spAutoFit/>
          </a:bodyPr>
          <a:lstStyle/>
          <a:p>
            <a:pPr algn="l">
              <a:defRPr sz="1000" b="0">
                <a:solidFill>
                  <a:srgbClr val="666666"/>
                </a:solidFill>
                <a:latin typeface="Yu Gothic"/>
              </a:defRPr>
            </a:pPr>
            <a:r>
              <a:t>AI開発BPO</a:t>
            </a:r>
          </a:p>
        </p:txBody>
      </p:sp>
      <p:sp>
        <p:nvSpPr>
          <p:cNvPr id="30" name="TextBox 29"/>
          <p:cNvSpPr txBox="1"/>
          <p:nvPr/>
        </p:nvSpPr>
        <p:spPr>
          <a:xfrm>
            <a:off x="6868159" y="4526280"/>
            <a:ext cx="1828800" cy="274320"/>
          </a:xfrm>
          <a:prstGeom prst="rect">
            <a:avLst/>
          </a:prstGeom>
          <a:noFill/>
        </p:spPr>
        <p:txBody>
          <a:bodyPr wrap="square">
            <a:spAutoFit/>
          </a:bodyPr>
          <a:lstStyle/>
          <a:p>
            <a:pPr algn="l">
              <a:defRPr sz="1300" b="1">
                <a:solidFill>
                  <a:srgbClr val="00A67E"/>
                </a:solidFill>
                <a:latin typeface="Yu Gothic"/>
              </a:defRPr>
            </a:pPr>
            <a:r>
              <a:t>240万円/6ヶ月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9144000" cy="73152"/>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8046720" cy="548640"/>
          </a:xfrm>
          <a:prstGeom prst="rect">
            <a:avLst/>
          </a:prstGeom>
          <a:noFill/>
        </p:spPr>
        <p:txBody>
          <a:bodyPr wrap="square">
            <a:spAutoFit/>
          </a:bodyPr>
          <a:lstStyle/>
          <a:p>
            <a:pPr algn="l">
              <a:defRPr sz="2800" b="1">
                <a:solidFill>
                  <a:srgbClr val="FFFFFF"/>
                </a:solidFill>
                <a:latin typeface="Yu Gothic"/>
              </a:defRPr>
            </a:pPr>
            <a:r>
              <a:t>Next Steps</a:t>
            </a:r>
          </a:p>
        </p:txBody>
      </p:sp>
      <p:sp>
        <p:nvSpPr>
          <p:cNvPr id="4" name="Rectangle 3"/>
          <p:cNvSpPr/>
          <p:nvPr/>
        </p:nvSpPr>
        <p:spPr>
          <a:xfrm>
            <a:off x="548640" y="1280160"/>
            <a:ext cx="457200" cy="4572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30960"/>
            <a:ext cx="457200" cy="365760"/>
          </a:xfrm>
          <a:prstGeom prst="rect">
            <a:avLst/>
          </a:prstGeom>
          <a:noFill/>
        </p:spPr>
        <p:txBody>
          <a:bodyPr wrap="square">
            <a:spAutoFit/>
          </a:bodyPr>
          <a:lstStyle/>
          <a:p>
            <a:pPr algn="ctr">
              <a:defRPr sz="1800" b="1">
                <a:solidFill>
                  <a:srgbClr val="FFFFFF"/>
                </a:solidFill>
                <a:latin typeface="Yu Gothic"/>
              </a:defRPr>
            </a:pPr>
            <a:r>
              <a:t>1</a:t>
            </a:r>
          </a:p>
        </p:txBody>
      </p:sp>
      <p:sp>
        <p:nvSpPr>
          <p:cNvPr id="6" name="TextBox 5"/>
          <p:cNvSpPr txBox="1"/>
          <p:nvPr/>
        </p:nvSpPr>
        <p:spPr>
          <a:xfrm>
            <a:off x="1188720" y="1305560"/>
            <a:ext cx="7132320" cy="457200"/>
          </a:xfrm>
          <a:prstGeom prst="rect">
            <a:avLst/>
          </a:prstGeom>
          <a:noFill/>
        </p:spPr>
        <p:txBody>
          <a:bodyPr wrap="square">
            <a:spAutoFit/>
          </a:bodyPr>
          <a:lstStyle/>
          <a:p>
            <a:pPr algn="l">
              <a:defRPr sz="1400" b="0">
                <a:solidFill>
                  <a:srgbClr val="FFFFFF"/>
                </a:solidFill>
                <a:latin typeface="Yu Gothic"/>
              </a:defRPr>
            </a:pPr>
            <a:r>
              <a:t>本提案のご検討・ご質問（〜1週間以内）</a:t>
            </a:r>
          </a:p>
        </p:txBody>
      </p:sp>
      <p:sp>
        <p:nvSpPr>
          <p:cNvPr id="7" name="Rectangle 6"/>
          <p:cNvSpPr/>
          <p:nvPr/>
        </p:nvSpPr>
        <p:spPr>
          <a:xfrm>
            <a:off x="548640" y="2057400"/>
            <a:ext cx="457200" cy="4572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8200"/>
            <a:ext cx="457200" cy="365760"/>
          </a:xfrm>
          <a:prstGeom prst="rect">
            <a:avLst/>
          </a:prstGeom>
          <a:noFill/>
        </p:spPr>
        <p:txBody>
          <a:bodyPr wrap="square">
            <a:spAutoFit/>
          </a:bodyPr>
          <a:lstStyle/>
          <a:p>
            <a:pPr algn="ctr">
              <a:defRPr sz="1800" b="1">
                <a:solidFill>
                  <a:srgbClr val="FFFFFF"/>
                </a:solidFill>
                <a:latin typeface="Yu Gothic"/>
              </a:defRPr>
            </a:pPr>
            <a:r>
              <a:t>2</a:t>
            </a:r>
          </a:p>
        </p:txBody>
      </p:sp>
      <p:sp>
        <p:nvSpPr>
          <p:cNvPr id="9" name="TextBox 8"/>
          <p:cNvSpPr txBox="1"/>
          <p:nvPr/>
        </p:nvSpPr>
        <p:spPr>
          <a:xfrm>
            <a:off x="1188720" y="2082800"/>
            <a:ext cx="7132320" cy="457200"/>
          </a:xfrm>
          <a:prstGeom prst="rect">
            <a:avLst/>
          </a:prstGeom>
          <a:noFill/>
        </p:spPr>
        <p:txBody>
          <a:bodyPr wrap="square">
            <a:spAutoFit/>
          </a:bodyPr>
          <a:lstStyle/>
          <a:p>
            <a:pPr algn="l">
              <a:defRPr sz="1400" b="0">
                <a:solidFill>
                  <a:srgbClr val="FFFFFF"/>
                </a:solidFill>
                <a:latin typeface="Yu Gothic"/>
              </a:defRPr>
            </a:pPr>
            <a:r>
              <a:t>ご契約・キックオフミーティングの日程調整</a:t>
            </a:r>
          </a:p>
        </p:txBody>
      </p:sp>
      <p:sp>
        <p:nvSpPr>
          <p:cNvPr id="10" name="Rectangle 9"/>
          <p:cNvSpPr/>
          <p:nvPr/>
        </p:nvSpPr>
        <p:spPr>
          <a:xfrm>
            <a:off x="548640" y="2834640"/>
            <a:ext cx="457200" cy="4572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85440"/>
            <a:ext cx="457200" cy="365760"/>
          </a:xfrm>
          <a:prstGeom prst="rect">
            <a:avLst/>
          </a:prstGeom>
          <a:noFill/>
        </p:spPr>
        <p:txBody>
          <a:bodyPr wrap="square">
            <a:spAutoFit/>
          </a:bodyPr>
          <a:lstStyle/>
          <a:p>
            <a:pPr algn="ctr">
              <a:defRPr sz="1800" b="1">
                <a:solidFill>
                  <a:srgbClr val="FFFFFF"/>
                </a:solidFill>
                <a:latin typeface="Yu Gothic"/>
              </a:defRPr>
            </a:pPr>
            <a:r>
              <a:t>3</a:t>
            </a:r>
          </a:p>
        </p:txBody>
      </p:sp>
      <p:sp>
        <p:nvSpPr>
          <p:cNvPr id="12" name="TextBox 11"/>
          <p:cNvSpPr txBox="1"/>
          <p:nvPr/>
        </p:nvSpPr>
        <p:spPr>
          <a:xfrm>
            <a:off x="1188720" y="2860040"/>
            <a:ext cx="7132320" cy="457200"/>
          </a:xfrm>
          <a:prstGeom prst="rect">
            <a:avLst/>
          </a:prstGeom>
          <a:noFill/>
        </p:spPr>
        <p:txBody>
          <a:bodyPr wrap="square">
            <a:spAutoFit/>
          </a:bodyPr>
          <a:lstStyle/>
          <a:p>
            <a:pPr algn="l">
              <a:defRPr sz="1400" b="0">
                <a:solidFill>
                  <a:srgbClr val="FFFFFF"/>
                </a:solidFill>
                <a:latin typeface="Yu Gothic"/>
              </a:defRPr>
            </a:pPr>
            <a:r>
              <a:t>業務ヒアリング（営業フローの詳細把握・AI化優先度の決定）</a:t>
            </a:r>
          </a:p>
        </p:txBody>
      </p:sp>
      <p:sp>
        <p:nvSpPr>
          <p:cNvPr id="13" name="Rectangle 12"/>
          <p:cNvSpPr/>
          <p:nvPr/>
        </p:nvSpPr>
        <p:spPr>
          <a:xfrm>
            <a:off x="548640" y="3611880"/>
            <a:ext cx="457200" cy="4572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62680"/>
            <a:ext cx="457200" cy="365760"/>
          </a:xfrm>
          <a:prstGeom prst="rect">
            <a:avLst/>
          </a:prstGeom>
          <a:noFill/>
        </p:spPr>
        <p:txBody>
          <a:bodyPr wrap="square">
            <a:spAutoFit/>
          </a:bodyPr>
          <a:lstStyle/>
          <a:p>
            <a:pPr algn="ctr">
              <a:defRPr sz="1800" b="1">
                <a:solidFill>
                  <a:srgbClr val="FFFFFF"/>
                </a:solidFill>
                <a:latin typeface="Yu Gothic"/>
              </a:defRPr>
            </a:pPr>
            <a:r>
              <a:t>4</a:t>
            </a:r>
          </a:p>
        </p:txBody>
      </p:sp>
      <p:sp>
        <p:nvSpPr>
          <p:cNvPr id="15" name="TextBox 14"/>
          <p:cNvSpPr txBox="1"/>
          <p:nvPr/>
        </p:nvSpPr>
        <p:spPr>
          <a:xfrm>
            <a:off x="1188720" y="3637280"/>
            <a:ext cx="7132320" cy="457200"/>
          </a:xfrm>
          <a:prstGeom prst="rect">
            <a:avLst/>
          </a:prstGeom>
          <a:noFill/>
        </p:spPr>
        <p:txBody>
          <a:bodyPr wrap="square">
            <a:spAutoFit/>
          </a:bodyPr>
          <a:lstStyle/>
          <a:p>
            <a:pPr algn="l">
              <a:defRPr sz="1400" b="0">
                <a:solidFill>
                  <a:srgbClr val="FFFFFF"/>
                </a:solidFill>
                <a:latin typeface="Yu Gothic"/>
              </a:defRPr>
            </a:pPr>
            <a:r>
              <a:t>補助金申請の事前準備開始（デジタル化・AI導入補助金）</a:t>
            </a:r>
          </a:p>
        </p:txBody>
      </p:sp>
      <p:sp>
        <p:nvSpPr>
          <p:cNvPr id="16" name="Rectangle 15"/>
          <p:cNvSpPr/>
          <p:nvPr/>
        </p:nvSpPr>
        <p:spPr>
          <a:xfrm>
            <a:off x="548640" y="4389120"/>
            <a:ext cx="457200" cy="457200"/>
          </a:xfrm>
          <a:prstGeom prst="rect">
            <a:avLst/>
          </a:prstGeom>
          <a:solidFill>
            <a:srgbClr val="006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439920"/>
            <a:ext cx="457200" cy="365760"/>
          </a:xfrm>
          <a:prstGeom prst="rect">
            <a:avLst/>
          </a:prstGeom>
          <a:noFill/>
        </p:spPr>
        <p:txBody>
          <a:bodyPr wrap="square">
            <a:spAutoFit/>
          </a:bodyPr>
          <a:lstStyle/>
          <a:p>
            <a:pPr algn="ctr">
              <a:defRPr sz="1800" b="1">
                <a:solidFill>
                  <a:srgbClr val="FFFFFF"/>
                </a:solidFill>
                <a:latin typeface="Yu Gothic"/>
              </a:defRPr>
            </a:pPr>
            <a:r>
              <a:t>5</a:t>
            </a:r>
          </a:p>
        </p:txBody>
      </p:sp>
      <p:sp>
        <p:nvSpPr>
          <p:cNvPr id="18" name="TextBox 17"/>
          <p:cNvSpPr txBox="1"/>
          <p:nvPr/>
        </p:nvSpPr>
        <p:spPr>
          <a:xfrm>
            <a:off x="1188720" y="4414520"/>
            <a:ext cx="7132320" cy="457200"/>
          </a:xfrm>
          <a:prstGeom prst="rect">
            <a:avLst/>
          </a:prstGeom>
          <a:noFill/>
        </p:spPr>
        <p:txBody>
          <a:bodyPr wrap="square">
            <a:spAutoFit/>
          </a:bodyPr>
          <a:lstStyle/>
          <a:p>
            <a:pPr algn="l">
              <a:defRPr sz="1400" b="0">
                <a:solidFill>
                  <a:srgbClr val="FFFFFF"/>
                </a:solidFill>
                <a:latin typeface="Yu Gothic"/>
              </a:defRPr>
            </a:pPr>
            <a:r>
              <a:t>Month 1 開発スタート — 2週間以内に最初の成果をお見せします</a:t>
            </a:r>
          </a:p>
        </p:txBody>
      </p:sp>
      <p:sp>
        <p:nvSpPr>
          <p:cNvPr id="19" name="TextBox 18"/>
          <p:cNvSpPr txBox="1"/>
          <p:nvPr/>
        </p:nvSpPr>
        <p:spPr>
          <a:xfrm>
            <a:off x="548640" y="5669280"/>
            <a:ext cx="8046720" cy="365760"/>
          </a:xfrm>
          <a:prstGeom prst="rect">
            <a:avLst/>
          </a:prstGeom>
          <a:noFill/>
        </p:spPr>
        <p:txBody>
          <a:bodyPr wrap="square">
            <a:spAutoFit/>
          </a:bodyPr>
          <a:lstStyle/>
          <a:p>
            <a:pPr algn="ctr">
              <a:defRPr sz="1200" b="1">
                <a:solidFill>
                  <a:srgbClr val="006ED6"/>
                </a:solidFill>
                <a:latin typeface="Yu Gothic"/>
              </a:defRPr>
            </a:pPr>
            <a:r>
              <a:t>建設業界のAI活用率9.4%の今だからこそ、先行者優位を確立できるタイミングです。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